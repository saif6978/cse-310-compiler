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Helvetica Neue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HelveticaNeue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215b6b7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215b6b7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215b6b71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215b6b7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215b6b71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215b6b71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215b6b71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215b6b71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e3369ba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e3369ba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e3369ba9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e3369ba9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e3369ba9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e3369ba9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e3369ba9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e3369ba9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e3369ba9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e3369ba9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e3369ba9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e3369ba9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e3369ba9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e3369ba9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e3369ba9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e3369ba9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e3369ba9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e3369ba9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e3369ba9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e3369ba9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e3369ba9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e3369ba9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e3369ba9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e3369ba9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e3369ba9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e3369ba9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e3369ba9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e3369ba9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e3369ba9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e3369ba9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e3369ba93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ee3369ba9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e3369ba9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e3369ba9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e3369ba9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e3369ba9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e3369ba9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e3369ba9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e3369ba9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ee3369ba9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235e2418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235e241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e3369ba9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ee3369ba9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  <a:def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○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■"/>
              <a:defRPr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Welcome to CSE310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Compiler Sessional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74750" y="3806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Presenter: Md Irtiaz Kabir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Adjunct Lecturer, CSE, BUET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have compiled so far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126" y="1359775"/>
            <a:ext cx="5775750" cy="312015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have compiled so far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125" y="1309425"/>
            <a:ext cx="5775749" cy="32488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under the hood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4813" y="1372250"/>
            <a:ext cx="5634376" cy="30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940226" y="3613750"/>
            <a:ext cx="120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FF99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Compiler</a:t>
            </a:r>
            <a:endParaRPr b="1" sz="1800">
              <a:solidFill>
                <a:schemeClr val="dk1"/>
              </a:solidFill>
              <a:highlight>
                <a:srgbClr val="FF9900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build a compiler!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how a compiler 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 “toy” compiler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focus on a subset of 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Maybe have some fun in the process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2250" y="1307425"/>
            <a:ext cx="2965875" cy="326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important notes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 the entire thing </a:t>
            </a:r>
            <a:r>
              <a:rPr lang="en">
                <a:solidFill>
                  <a:srgbClr val="FF0000"/>
                </a:solidFill>
              </a:rPr>
              <a:t>from scratch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No p</a:t>
            </a:r>
            <a:r>
              <a:rPr lang="en">
                <a:solidFill>
                  <a:srgbClr val="FF0000"/>
                </a:solidFill>
              </a:rPr>
              <a:t>lagiarism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No LLM</a:t>
            </a:r>
            <a:r>
              <a:rPr lang="en"/>
              <a:t> generated codes</a:t>
            </a:r>
            <a:endParaRPr/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200" y="1590312"/>
            <a:ext cx="3936576" cy="25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in my days…</a:t>
            </a:r>
            <a:endParaRPr/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688" y="1138400"/>
            <a:ext cx="6154625" cy="123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421225" y="3229475"/>
            <a:ext cx="52395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wrote </a:t>
            </a:r>
            <a:r>
              <a:rPr lang="en" sz="1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my own flex + bison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(from scratch)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my </a:t>
            </a:r>
            <a:r>
              <a:rPr lang="en" sz="1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own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programming language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 single LLM usage</a:t>
            </a:r>
            <a:endParaRPr sz="18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</a:t>
            </a:r>
            <a:r>
              <a:rPr lang="en" sz="1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ANSI C</a:t>
            </a:r>
            <a:endParaRPr sz="18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During </a:t>
            </a:r>
            <a:r>
              <a:rPr lang="en" sz="1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</a:t>
            </a:r>
            <a:endParaRPr sz="18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6575" y="2708850"/>
            <a:ext cx="2524125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6755938" y="4559675"/>
            <a:ext cx="1145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Jui Lang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Phases of a compiler</a:t>
            </a:r>
            <a:endParaRPr/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973" y="1071548"/>
            <a:ext cx="3248050" cy="359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Lexical Analyzer</a:t>
            </a:r>
            <a:endParaRPr/>
          </a:p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098" y="1044636"/>
            <a:ext cx="3248050" cy="359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443400" y="1138075"/>
            <a:ext cx="54465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 program -&gt; stream of tokens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Passes tokens to syntax analyzer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Detects lexical errors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ill formed numbers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Improper variable declaration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Unfinished strings/comments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438" y="3130600"/>
            <a:ext cx="4018422" cy="16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Analyzer</a:t>
            </a:r>
            <a:endParaRPr/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098" y="1044636"/>
            <a:ext cx="3248050" cy="359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443400" y="1138075"/>
            <a:ext cx="5446500" cy="14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Stream of tokens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-&gt; Parse Tree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Parse Tree can be converted to AST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Detects syntax errors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63" y="3137575"/>
            <a:ext cx="6281576" cy="16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Analyzer</a:t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098" y="1044636"/>
            <a:ext cx="3248050" cy="359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/>
        </p:nvSpPr>
        <p:spPr>
          <a:xfrm>
            <a:off x="443400" y="1138075"/>
            <a:ext cx="5446500" cy="27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semantic consistency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add nodes in the AST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Implicit type conversions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Detects semantic errors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 checking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 declared as void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Undeclared variable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○"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Error in number of or type of arguments in function call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first need a symbol table</a:t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7973" y="1071548"/>
            <a:ext cx="3248050" cy="359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/>
          <p:nvPr/>
        </p:nvSpPr>
        <p:spPr>
          <a:xfrm>
            <a:off x="3170350" y="2520025"/>
            <a:ext cx="916500" cy="502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 table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table to store symbol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Symbol name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Symbol 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Scope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Almost all phases refer to the symbol table for type checking</a:t>
            </a:r>
            <a:endParaRPr/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Basically a hash table</a:t>
            </a:r>
            <a:endParaRPr/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Symbol table is just like a hash 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entry in the hash table is </a:t>
            </a:r>
            <a:r>
              <a:rPr b="1" lang="en"/>
              <a:t>mainly</a:t>
            </a:r>
            <a:r>
              <a:rPr lang="en"/>
              <a:t> a two tuple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&lt;Symbol Name, Symbol Type&gt;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Symbol Name is used as the key for hashing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resolve hash collisions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use </a:t>
            </a:r>
            <a:r>
              <a:rPr lang="en">
                <a:solidFill>
                  <a:srgbClr val="FF0000"/>
                </a:solidFill>
              </a:rPr>
              <a:t>separate chaining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Basically a hash table</a:t>
            </a:r>
            <a:endParaRPr/>
          </a:p>
        </p:txBody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525" y="1147950"/>
            <a:ext cx="6076950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 symbol table help?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3678900" cy="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Detect undeclared variables</a:t>
            </a:r>
            <a:endParaRPr/>
          </a:p>
        </p:txBody>
      </p:sp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5668200" y="2719050"/>
            <a:ext cx="3066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Searching a… </a:t>
            </a:r>
            <a:r>
              <a:rPr b="1" lang="en" sz="1800">
                <a:solidFill>
                  <a:srgbClr val="274E1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SUCCESS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5765400" y="3477950"/>
            <a:ext cx="3066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Searching b… </a:t>
            </a:r>
            <a:r>
              <a:rPr b="1" lang="en" sz="1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FAILED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5765400" y="1918125"/>
            <a:ext cx="30669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Inserting a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 rotWithShape="1">
          <a:blip r:embed="rId3">
            <a:alphaModFix/>
          </a:blip>
          <a:srcRect b="12540" l="4589" r="64216" t="26618"/>
          <a:stretch/>
        </p:blipFill>
        <p:spPr>
          <a:xfrm>
            <a:off x="724225" y="1918125"/>
            <a:ext cx="2852577" cy="24937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8"/>
          <p:cNvCxnSpPr>
            <a:endCxn id="177" idx="1"/>
          </p:cNvCxnSpPr>
          <p:nvPr/>
        </p:nvCxnSpPr>
        <p:spPr>
          <a:xfrm flipH="1" rot="10800000">
            <a:off x="2169900" y="2154825"/>
            <a:ext cx="3595500" cy="453000"/>
          </a:xfrm>
          <a:prstGeom prst="straightConnector1">
            <a:avLst/>
          </a:prstGeom>
          <a:noFill/>
          <a:ln cap="flat" cmpd="sng" w="3810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8"/>
          <p:cNvCxnSpPr>
            <a:endCxn id="175" idx="1"/>
          </p:cNvCxnSpPr>
          <p:nvPr/>
        </p:nvCxnSpPr>
        <p:spPr>
          <a:xfrm flipH="1" rot="10800000">
            <a:off x="2143200" y="2955750"/>
            <a:ext cx="3525000" cy="372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8"/>
          <p:cNvCxnSpPr>
            <a:endCxn id="176" idx="1"/>
          </p:cNvCxnSpPr>
          <p:nvPr/>
        </p:nvCxnSpPr>
        <p:spPr>
          <a:xfrm>
            <a:off x="2140200" y="3430550"/>
            <a:ext cx="3625200" cy="28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 symbol table help?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11700" y="1152475"/>
            <a:ext cx="3678900" cy="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 checking</a:t>
            </a:r>
            <a:endParaRPr/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9"/>
          <p:cNvSpPr txBox="1"/>
          <p:nvPr/>
        </p:nvSpPr>
        <p:spPr>
          <a:xfrm>
            <a:off x="4463625" y="2941250"/>
            <a:ext cx="41754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 mismatch… Implicit cast to int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b="15695" l="4518" r="64916" t="25412"/>
          <a:stretch/>
        </p:blipFill>
        <p:spPr>
          <a:xfrm>
            <a:off x="1792736" y="2202250"/>
            <a:ext cx="2287473" cy="178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 symbol table help?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152475"/>
            <a:ext cx="6391200" cy="11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Scope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allow duplicate entries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Need to delete some entries when a block ends</a:t>
            </a:r>
            <a:endParaRPr/>
          </a:p>
        </p:txBody>
      </p:sp>
      <p:sp>
        <p:nvSpPr>
          <p:cNvPr id="197" name="Google Shape;19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9474" l="4123" r="60518" t="21470"/>
          <a:stretch/>
        </p:blipFill>
        <p:spPr>
          <a:xfrm>
            <a:off x="5936338" y="1056850"/>
            <a:ext cx="2710436" cy="283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of Hash Tables</a:t>
            </a:r>
            <a:endParaRPr/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 rotWithShape="1">
          <a:blip r:embed="rId3">
            <a:alphaModFix/>
          </a:blip>
          <a:srcRect b="9474" l="4123" r="60518" t="21470"/>
          <a:stretch/>
        </p:blipFill>
        <p:spPr>
          <a:xfrm>
            <a:off x="711538" y="1308100"/>
            <a:ext cx="2710436" cy="283032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/>
        </p:nvSpPr>
        <p:spPr>
          <a:xfrm>
            <a:off x="4016663" y="1647975"/>
            <a:ext cx="1537200" cy="159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Hash Table#1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31"/>
          <p:cNvSpPr/>
          <p:nvPr/>
        </p:nvSpPr>
        <p:spPr>
          <a:xfrm>
            <a:off x="7350350" y="1647975"/>
            <a:ext cx="1537200" cy="159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Hash Table#2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08" name="Google Shape;208;p31"/>
          <p:cNvCxnSpPr>
            <a:stCxn id="207" idx="1"/>
            <a:endCxn id="206" idx="3"/>
          </p:cNvCxnSpPr>
          <p:nvPr/>
        </p:nvCxnSpPr>
        <p:spPr>
          <a:xfrm rot="10800000">
            <a:off x="5553950" y="2446125"/>
            <a:ext cx="179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31"/>
          <p:cNvSpPr txBox="1"/>
          <p:nvPr/>
        </p:nvSpPr>
        <p:spPr>
          <a:xfrm>
            <a:off x="5635801" y="2006325"/>
            <a:ext cx="16326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Parent pointer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0" name="Google Shape;210;p31"/>
          <p:cNvCxnSpPr/>
          <p:nvPr/>
        </p:nvCxnSpPr>
        <p:spPr>
          <a:xfrm>
            <a:off x="583825" y="1891850"/>
            <a:ext cx="49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31"/>
          <p:cNvCxnSpPr/>
          <p:nvPr/>
        </p:nvCxnSpPr>
        <p:spPr>
          <a:xfrm>
            <a:off x="583825" y="2571750"/>
            <a:ext cx="9312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31"/>
          <p:cNvCxnSpPr/>
          <p:nvPr/>
        </p:nvCxnSpPr>
        <p:spPr>
          <a:xfrm>
            <a:off x="583825" y="2226225"/>
            <a:ext cx="49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31"/>
          <p:cNvCxnSpPr/>
          <p:nvPr/>
        </p:nvCxnSpPr>
        <p:spPr>
          <a:xfrm>
            <a:off x="583825" y="2903325"/>
            <a:ext cx="49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p31"/>
          <p:cNvSpPr txBox="1"/>
          <p:nvPr/>
        </p:nvSpPr>
        <p:spPr>
          <a:xfrm>
            <a:off x="7712525" y="2226225"/>
            <a:ext cx="100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&lt;a, var&gt;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&lt;b, var&gt;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3887075" y="872025"/>
            <a:ext cx="179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Pointer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6" name="Google Shape;216;p31"/>
          <p:cNvCxnSpPr>
            <a:stCxn id="215" idx="2"/>
            <a:endCxn id="206" idx="0"/>
          </p:cNvCxnSpPr>
          <p:nvPr/>
        </p:nvCxnSpPr>
        <p:spPr>
          <a:xfrm>
            <a:off x="4785275" y="1265625"/>
            <a:ext cx="0" cy="3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31"/>
          <p:cNvSpPr txBox="1"/>
          <p:nvPr/>
        </p:nvSpPr>
        <p:spPr>
          <a:xfrm>
            <a:off x="7158100" y="872025"/>
            <a:ext cx="1796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Current Pointer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8" name="Google Shape;218;p31"/>
          <p:cNvCxnSpPr>
            <a:stCxn id="217" idx="2"/>
          </p:cNvCxnSpPr>
          <p:nvPr/>
        </p:nvCxnSpPr>
        <p:spPr>
          <a:xfrm>
            <a:off x="8056300" y="1265625"/>
            <a:ext cx="0" cy="38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1"/>
          <p:cNvCxnSpPr/>
          <p:nvPr/>
        </p:nvCxnSpPr>
        <p:spPr>
          <a:xfrm flipH="1" rot="10800000">
            <a:off x="569025" y="1529650"/>
            <a:ext cx="2805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31"/>
          <p:cNvSpPr txBox="1"/>
          <p:nvPr/>
        </p:nvSpPr>
        <p:spPr>
          <a:xfrm>
            <a:off x="4319675" y="2249322"/>
            <a:ext cx="93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&lt;a, var&gt;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Stack</a:t>
            </a:r>
            <a:r>
              <a:rPr lang="en"/>
              <a:t> of Hash Tables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a list and a current pointer, we can maintain a stack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 scope is always the </a:t>
            </a:r>
            <a:r>
              <a:rPr lang="en">
                <a:solidFill>
                  <a:srgbClr val="FF0000"/>
                </a:solidFill>
              </a:rPr>
              <a:t>top of the stack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accessing, 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Search the topmost stack first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If failed, search its parent and so 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7" name="Google Shape;22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Stack</a:t>
            </a:r>
            <a:r>
              <a:rPr lang="en"/>
              <a:t> of Hash Tables</a:t>
            </a:r>
            <a:endParaRPr/>
          </a:p>
        </p:txBody>
      </p:sp>
      <p:sp>
        <p:nvSpPr>
          <p:cNvPr id="233" name="Google Shape;23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4" name="Google Shape;2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375" y="1162725"/>
            <a:ext cx="752725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Classes: </a:t>
            </a:r>
            <a:r>
              <a:rPr lang="en">
                <a:solidFill>
                  <a:srgbClr val="FF0000"/>
                </a:solidFill>
              </a:rPr>
              <a:t>SymbolInfo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11700" y="1152475"/>
            <a:ext cx="8408700" cy="18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entry of symbol table is an instance of SymbolInfo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Remember two tuples!!!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member vars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Pointer to another SymbolInfo class (needed for chaining in hash table)</a:t>
            </a:r>
            <a:endParaRPr/>
          </a:p>
        </p:txBody>
      </p:sp>
      <p:sp>
        <p:nvSpPr>
          <p:cNvPr id="241" name="Google Shape;24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8" y="3000475"/>
            <a:ext cx="3613336" cy="183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Classes: </a:t>
            </a:r>
            <a:r>
              <a:rPr lang="en">
                <a:solidFill>
                  <a:srgbClr val="FF0000"/>
                </a:solidFill>
              </a:rPr>
              <a:t>ScopeTable</a:t>
            </a:r>
            <a:endParaRPr/>
          </a:p>
        </p:txBody>
      </p:sp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regular hash 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Represents each scope in the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Implements four operations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Insert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Lookup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Print</a:t>
            </a:r>
            <a:endParaRPr/>
          </a:p>
        </p:txBody>
      </p:sp>
      <p:sp>
        <p:nvSpPr>
          <p:cNvPr id="249" name="Google Shape;24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Classes: </a:t>
            </a:r>
            <a:r>
              <a:rPr lang="en">
                <a:solidFill>
                  <a:srgbClr val="FF0000"/>
                </a:solidFill>
              </a:rPr>
              <a:t>SymbolTable</a:t>
            </a:r>
            <a:endParaRPr/>
          </a:p>
        </p:txBody>
      </p:sp>
      <p:sp>
        <p:nvSpPr>
          <p:cNvPr id="255" name="Google Shape;25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Maintains a list of Scope Tables (or a stack)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Implements six operations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Enter Scope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Exit Scope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Insert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Delete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Print All Scope Tables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Print Current Scope Tables</a:t>
            </a:r>
            <a:endParaRPr/>
          </a:p>
        </p:txBody>
      </p:sp>
      <p:sp>
        <p:nvSpPr>
          <p:cNvPr id="256" name="Google Shape;25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Cautions</a:t>
            </a:r>
            <a:endParaRPr/>
          </a:p>
        </p:txBody>
      </p:sp>
      <p:sp>
        <p:nvSpPr>
          <p:cNvPr id="262" name="Google Shape;26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will be an </a:t>
            </a:r>
            <a:r>
              <a:rPr lang="en">
                <a:solidFill>
                  <a:srgbClr val="FF0000"/>
                </a:solidFill>
              </a:rPr>
              <a:t>online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Plagiarism will make you suffer later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Symbol table is used in all the later offline assignments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bug might snowball into a complex issue later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memory leaks tolerated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</a:t>
            </a:r>
            <a:r>
              <a:rPr lang="en">
                <a:solidFill>
                  <a:srgbClr val="FF0000"/>
                </a:solidFill>
              </a:rPr>
              <a:t>-fsanitize=address</a:t>
            </a:r>
            <a:r>
              <a:rPr lang="en"/>
              <a:t> flag for auto leak detection in runtime</a:t>
            </a:r>
            <a:endParaRPr/>
          </a:p>
        </p:txBody>
      </p:sp>
      <p:sp>
        <p:nvSpPr>
          <p:cNvPr id="263" name="Google Shape;26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</a:t>
            </a:r>
            <a:endParaRPr/>
          </a:p>
        </p:txBody>
      </p:sp>
      <p:sp>
        <p:nvSpPr>
          <p:cNvPr id="269" name="Google Shape;26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Ajmain Yasar Ahmed Sahil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Nafis Tahmid</a:t>
            </a:r>
            <a:endParaRPr/>
          </a:p>
        </p:txBody>
      </p:sp>
      <p:sp>
        <p:nvSpPr>
          <p:cNvPr id="270" name="Google Shape;27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39"/>
          <p:cNvSpPr txBox="1"/>
          <p:nvPr/>
        </p:nvSpPr>
        <p:spPr>
          <a:xfrm>
            <a:off x="2218200" y="1607400"/>
            <a:ext cx="4707600" cy="19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Questions?</a:t>
            </a: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